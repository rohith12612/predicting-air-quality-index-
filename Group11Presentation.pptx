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2" r:id="rId3"/>
    <p:sldId id="286" r:id="rId4"/>
    <p:sldId id="289" r:id="rId5"/>
    <p:sldId id="287" r:id="rId6"/>
    <p:sldId id="288" r:id="rId7"/>
    <p:sldId id="290" r:id="rId8"/>
    <p:sldId id="308" r:id="rId9"/>
    <p:sldId id="291" r:id="rId10"/>
    <p:sldId id="304" r:id="rId11"/>
    <p:sldId id="305" r:id="rId12"/>
    <p:sldId id="306" r:id="rId13"/>
    <p:sldId id="307" r:id="rId14"/>
    <p:sldId id="322" r:id="rId15"/>
    <p:sldId id="298" r:id="rId16"/>
    <p:sldId id="299" r:id="rId17"/>
    <p:sldId id="302" r:id="rId18"/>
    <p:sldId id="303" r:id="rId19"/>
    <p:sldId id="300" r:id="rId20"/>
    <p:sldId id="301" r:id="rId21"/>
    <p:sldId id="296" r:id="rId22"/>
    <p:sldId id="285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IBM Plex Sans" panose="020B0503050203000203" pitchFamily="34" charset="0"/>
      <p:regular r:id="rId29"/>
      <p:bold r:id="rId30"/>
      <p:italic r:id="rId31"/>
      <p:boldItalic r:id="rId32"/>
    </p:embeddedFont>
    <p:embeddedFont>
      <p:font typeface="IBM Plex Sans Light" panose="020F0302020204030204" pitchFamily="34" charset="0"/>
      <p:regular r:id="rId33"/>
      <p:italic r:id="rId34"/>
    </p:embeddedFont>
    <p:embeddedFont>
      <p:font typeface="IBM Plex Sans SemiBold" panose="020F0502020204030204" pitchFamily="34" charset="0"/>
      <p:regular r:id="rId35"/>
      <p:bold r:id="rId36"/>
      <p:italic r:id="rId37"/>
      <p:boldItalic r:id="rId38"/>
    </p:embeddedFont>
    <p:embeddedFont>
      <p:font typeface="Inter" panose="02000503000000020004" pitchFamily="2" charset="0"/>
      <p:regular r:id="rId39"/>
      <p:bold r:id="rId40"/>
    </p:embeddedFont>
    <p:embeddedFont>
      <p:font typeface="Saira Condensed Light" pitchFamily="2" charset="77"/>
      <p:regular r:id="rId41"/>
    </p:embeddedFont>
    <p:embeddedFont>
      <p:font typeface="Saira Condensed SemiBold" pitchFamily="2" charset="77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/>
    <p:restoredTop sz="94687"/>
  </p:normalViewPr>
  <p:slideViewPr>
    <p:cSldViewPr snapToGrid="0" snapToObjects="1">
      <p:cViewPr varScale="1">
        <p:scale>
          <a:sx n="145" d="100"/>
          <a:sy n="145" d="100"/>
        </p:scale>
        <p:origin x="20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25119ecf1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2a25119ecf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 descr="Background pattern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249881" y="2504921"/>
            <a:ext cx="7280733" cy="2061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 panose="00000406000000000000"/>
              <a:buNone/>
              <a:defRPr sz="5400" b="0" i="0">
                <a:solidFill>
                  <a:schemeClr val="lt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  <a:sym typeface="Saira Condensed Light" panose="0000040600000000000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l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i="0">
                <a:solidFill>
                  <a:schemeClr val="lt1"/>
                </a:solidFill>
                <a:latin typeface="IBM Plex Sans SemiBold" panose="020B0703050203000203"/>
                <a:ea typeface="IBM Plex Sans SemiBold" panose="020B0703050203000203"/>
                <a:cs typeface="IBM Plex Sans SemiBold" panose="020B0703050203000203"/>
                <a:sym typeface="IBM Plex Sans SemiBold" panose="020B0703050203000203"/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000" b="1" i="0" u="none" strike="noStrike" cap="none">
                <a:solidFill>
                  <a:schemeClr val="l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pic>
        <p:nvPicPr>
          <p:cNvPr id="3" name="Picture 2" descr="A red square with white dots&#10;&#10;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98559" y="399731"/>
            <a:ext cx="30353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Thank You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 descr="A picture containing person, crowd, event, several&#10;&#10;Description automatically generated"/>
          <p:cNvPicPr preferRelativeResize="0"/>
          <p:nvPr/>
        </p:nvPicPr>
        <p:blipFill rotWithShape="1">
          <a:blip r:embed="rId2"/>
          <a:srcRect l="28985"/>
          <a:stretch>
            <a:fillRect/>
          </a:stretch>
        </p:blipFill>
        <p:spPr>
          <a:xfrm>
            <a:off x="2" y="0"/>
            <a:ext cx="73052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7" descr="A picture containing shape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/>
        </p:nvSpPr>
        <p:spPr>
          <a:xfrm>
            <a:off x="7284722" y="3144277"/>
            <a:ext cx="424589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 panose="020B0604020202020204"/>
              <a:buNone/>
            </a:pPr>
            <a:r>
              <a:rPr lang="en-US" sz="54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Saira Condensed Light" panose="00000406000000000000"/>
                <a:cs typeface="Arial" panose="020B0604020202020204" pitchFamily="34" charset="0"/>
                <a:sym typeface="Saira Condensed Light" panose="00000406000000000000"/>
              </a:rPr>
              <a:t>THANK YOU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3" name="Picture 2" descr="A red square with white dots&#10;&#10;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5317" y="277644"/>
            <a:ext cx="30353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817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644771" y="1359017"/>
            <a:ext cx="10709031" cy="47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TR"/>
              <a:buChar char="-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NTR"/>
              <a:buChar char="-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NTR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644769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>
  <p:cSld name="Three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644773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4351622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3"/>
          </p:nvPr>
        </p:nvSpPr>
        <p:spPr>
          <a:xfrm>
            <a:off x="8058471" y="1825625"/>
            <a:ext cx="3296919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and Subhead" preserve="1">
  <p:cSld name="1_Three Content and Subhead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644772" y="1345482"/>
            <a:ext cx="3296920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644773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3"/>
          </p:nvPr>
        </p:nvSpPr>
        <p:spPr>
          <a:xfrm>
            <a:off x="4351622" y="1345482"/>
            <a:ext cx="3296919" cy="48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4"/>
          </p:nvPr>
        </p:nvSpPr>
        <p:spPr>
          <a:xfrm>
            <a:off x="8058471" y="1345482"/>
            <a:ext cx="3296919" cy="48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and Subhead">
  <p:cSld name="Three Content and Subhead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644773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3"/>
          </p:nvPr>
        </p:nvSpPr>
        <p:spPr>
          <a:xfrm>
            <a:off x="4351622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4"/>
          </p:nvPr>
        </p:nvSpPr>
        <p:spPr>
          <a:xfrm>
            <a:off x="8058471" y="2325836"/>
            <a:ext cx="3296919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">
  <p:cSld name="Four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644526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2"/>
          </p:nvPr>
        </p:nvSpPr>
        <p:spPr>
          <a:xfrm>
            <a:off x="6400803" y="1962352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3"/>
          </p:nvPr>
        </p:nvSpPr>
        <p:spPr>
          <a:xfrm>
            <a:off x="644526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4"/>
          </p:nvPr>
        </p:nvSpPr>
        <p:spPr>
          <a:xfrm>
            <a:off x="6400803" y="4119680"/>
            <a:ext cx="4954588" cy="182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and subhead">
  <p:cSld name="Four Content and subhead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2"/>
          </p:nvPr>
        </p:nvSpPr>
        <p:spPr>
          <a:xfrm>
            <a:off x="644526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3" name="Google Shape;83;p13"/>
          <p:cNvSpPr txBox="1">
            <a:spLocks noGrp="1"/>
          </p:cNvSpPr>
          <p:nvPr>
            <p:ph type="body" idx="3"/>
          </p:nvPr>
        </p:nvSpPr>
        <p:spPr>
          <a:xfrm>
            <a:off x="6400803" y="2233235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4"/>
          </p:nvPr>
        </p:nvSpPr>
        <p:spPr>
          <a:xfrm>
            <a:off x="644526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5"/>
          </p:nvPr>
        </p:nvSpPr>
        <p:spPr>
          <a:xfrm>
            <a:off x="6400803" y="4448441"/>
            <a:ext cx="4954588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ntent">
  <p:cSld name="Five Conte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2"/>
          </p:nvPr>
        </p:nvSpPr>
        <p:spPr>
          <a:xfrm>
            <a:off x="5359999" y="2210085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3"/>
          </p:nvPr>
        </p:nvSpPr>
        <p:spPr>
          <a:xfrm>
            <a:off x="8429308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4"/>
          </p:nvPr>
        </p:nvSpPr>
        <p:spPr>
          <a:xfrm>
            <a:off x="5359999" y="4448439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5"/>
          </p:nvPr>
        </p:nvSpPr>
        <p:spPr>
          <a:xfrm>
            <a:off x="8429308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Content and subhead">
  <p:cSld name="Five Content and subhead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2"/>
          </p:nvPr>
        </p:nvSpPr>
        <p:spPr>
          <a:xfrm>
            <a:off x="644771" y="2210082"/>
            <a:ext cx="4572000" cy="389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3"/>
          </p:nvPr>
        </p:nvSpPr>
        <p:spPr>
          <a:xfrm>
            <a:off x="5359205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4"/>
          </p:nvPr>
        </p:nvSpPr>
        <p:spPr>
          <a:xfrm>
            <a:off x="8427720" y="2210086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5"/>
          </p:nvPr>
        </p:nvSpPr>
        <p:spPr>
          <a:xfrm>
            <a:off x="5359205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6"/>
          </p:nvPr>
        </p:nvSpPr>
        <p:spPr>
          <a:xfrm>
            <a:off x="8427720" y="4448441"/>
            <a:ext cx="2926080" cy="165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, Subhead" preserve="1">
  <p:cSld name="1_Two Content, Subhea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644772" y="1345482"/>
            <a:ext cx="5181598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2"/>
          </p:nvPr>
        </p:nvSpPr>
        <p:spPr>
          <a:xfrm>
            <a:off x="644769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3"/>
          </p:nvPr>
        </p:nvSpPr>
        <p:spPr>
          <a:xfrm>
            <a:off x="6172200" y="1345482"/>
            <a:ext cx="5181600" cy="48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, Subhead">
  <p:cSld name="Two Content, Subhead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646359" y="365127"/>
            <a:ext cx="10709031" cy="73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1"/>
          </p:nvPr>
        </p:nvSpPr>
        <p:spPr>
          <a:xfrm>
            <a:off x="644771" y="1345482"/>
            <a:ext cx="10709031" cy="73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accent1"/>
                </a:solidFill>
                <a:latin typeface="IBM Plex Sans Light" panose="020B0403050203000203"/>
                <a:ea typeface="IBM Plex Sans Light" panose="020B0403050203000203"/>
                <a:cs typeface="IBM Plex Sans Light" panose="020B0403050203000203"/>
                <a:sym typeface="IBM Plex Sans Light" panose="020B0403050203000203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2"/>
          </p:nvPr>
        </p:nvSpPr>
        <p:spPr>
          <a:xfrm>
            <a:off x="644769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3"/>
          </p:nvPr>
        </p:nvSpPr>
        <p:spPr>
          <a:xfrm>
            <a:off x="6172200" y="2325836"/>
            <a:ext cx="5181600" cy="3851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644769" y="365125"/>
            <a:ext cx="1071061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644772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body" idx="2"/>
          </p:nvPr>
        </p:nvSpPr>
        <p:spPr>
          <a:xfrm>
            <a:off x="644772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4"/>
          </p:nvPr>
        </p:nvSpPr>
        <p:spPr>
          <a:xfrm>
            <a:off x="6172202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-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-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-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 panose="00000706000000000000"/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644773" y="457200"/>
            <a:ext cx="412725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aira Condensed SemiBold" panose="00000706000000000000"/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1"/>
          </p:nvPr>
        </p:nvSpPr>
        <p:spPr>
          <a:xfrm>
            <a:off x="644773" y="2057402"/>
            <a:ext cx="412725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2" name="Google Shape;132;p22"/>
          <p:cNvSpPr>
            <a:spLocks noGrp="1"/>
          </p:cNvSpPr>
          <p:nvPr>
            <p:ph type="pic" idx="2"/>
          </p:nvPr>
        </p:nvSpPr>
        <p:spPr>
          <a:xfrm>
            <a:off x="5183188" y="987428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 rot="5400000">
            <a:off x="3881699" y="-1411302"/>
            <a:ext cx="4235176" cy="1070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 rot="5400000">
            <a:off x="7133433" y="1956597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 rot="5400000">
            <a:off x="1702715" y="-692819"/>
            <a:ext cx="5811839" cy="7927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2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44771" y="365125"/>
            <a:ext cx="107090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 Condensed SemiBold" panose="00000706000000000000"/>
              <a:buNone/>
              <a:defRPr sz="4000" b="1" i="0" u="none" strike="noStrike" cap="none">
                <a:solidFill>
                  <a:schemeClr val="dk1"/>
                </a:solidFill>
                <a:latin typeface="Saira Condensed SemiBold" panose="00000706000000000000"/>
                <a:ea typeface="Saira Condensed SemiBold" panose="00000706000000000000"/>
                <a:cs typeface="Saira Condensed SemiBold" panose="00000706000000000000"/>
                <a:sym typeface="Saira Condensed SemiBold" panose="00000706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44771" y="1825625"/>
            <a:ext cx="10709031" cy="423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TR"/>
              <a:buChar char="-"/>
              <a:defRPr sz="18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sz="16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TR"/>
              <a:buChar char="-"/>
              <a:defRPr sz="16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9375913" y="627684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1" i="0" u="none" strike="noStrike" cap="none">
                <a:solidFill>
                  <a:schemeClr val="accen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537767" y="6276840"/>
            <a:ext cx="2516718" cy="3048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ctrTitle"/>
          </p:nvPr>
        </p:nvSpPr>
        <p:spPr>
          <a:xfrm>
            <a:off x="4369394" y="2292271"/>
            <a:ext cx="7280700" cy="20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aira Condensed Light" panose="00000406000000000000"/>
              <a:buNone/>
            </a:pPr>
            <a:r>
              <a:rPr lang="en-US" dirty="0"/>
              <a:t>Predicting Air Quality Index</a:t>
            </a:r>
            <a:endParaRPr dirty="0"/>
          </a:p>
        </p:txBody>
      </p:sp>
      <p:sp>
        <p:nvSpPr>
          <p:cNvPr id="145" name="Google Shape;145;p25"/>
          <p:cNvSpPr txBox="1">
            <a:spLocks noGrp="1"/>
          </p:cNvSpPr>
          <p:nvPr>
            <p:ph type="subTitle" idx="1"/>
          </p:nvPr>
        </p:nvSpPr>
        <p:spPr>
          <a:xfrm>
            <a:off x="4488873" y="4591369"/>
            <a:ext cx="7041742" cy="934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body" idx="2"/>
          </p:nvPr>
        </p:nvSpPr>
        <p:spPr>
          <a:xfrm>
            <a:off x="4675910" y="5690085"/>
            <a:ext cx="6854708" cy="42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Group 11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47" name="Google Shape;147;p25"/>
          <p:cNvSpPr txBox="1">
            <a:spLocks noGrp="1"/>
          </p:cNvSpPr>
          <p:nvPr>
            <p:ph type="dt" idx="10"/>
          </p:nvPr>
        </p:nvSpPr>
        <p:spPr>
          <a:xfrm>
            <a:off x="10416209" y="6342033"/>
            <a:ext cx="1114406" cy="246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April 21 ‘24</a:t>
            </a:r>
            <a:endParaRPr dirty="0"/>
          </a:p>
        </p:txBody>
      </p:sp>
      <p:sp>
        <p:nvSpPr>
          <p:cNvPr id="149" name="Google Shape;149;p25"/>
          <p:cNvSpPr txBox="1"/>
          <p:nvPr/>
        </p:nvSpPr>
        <p:spPr>
          <a:xfrm>
            <a:off x="582550" y="304109"/>
            <a:ext cx="2297284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Ritheesha</a:t>
            </a:r>
            <a:r>
              <a:rPr lang="en-US" dirty="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Rajannagari</a:t>
            </a:r>
            <a:endParaRPr dirty="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U00917163</a:t>
            </a:r>
            <a:endParaRPr dirty="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2879834" y="304109"/>
            <a:ext cx="14190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Rohith </a:t>
            </a:r>
            <a:r>
              <a:rPr lang="en-US" dirty="0" err="1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Boddu</a:t>
            </a:r>
            <a:endParaRPr dirty="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U00927888</a:t>
            </a:r>
            <a:endParaRPr dirty="0">
              <a:solidFill>
                <a:srgbClr val="FFFFFF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aira Condensed SemiBold" panose="00000706000000000000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Air quality is a crucial environmental issue with significant impacts on health and ecosystem integrity.</a:t>
            </a:r>
          </a:p>
          <a:p>
            <a:r>
              <a:rPr lang="en-US" sz="1600" dirty="0"/>
              <a:t>Predictive modeling of AQI is essential for timely warnings and effective intervention strategies.</a:t>
            </a:r>
          </a:p>
          <a:p>
            <a:r>
              <a:rPr lang="en-US" sz="1600" dirty="0"/>
              <a:t>This study aims to leverage machine learning techniques to enhance the prediction accuracy of AQI based on environmental data.</a:t>
            </a:r>
          </a:p>
          <a:p>
            <a:r>
              <a:rPr lang="en-US" sz="1600" dirty="0"/>
              <a:t>The focus is on comparing the efficacy of multiple regression models (KNN, Ridge, Lasso) to predict AQI and determine the key influencing factors.</a:t>
            </a:r>
          </a:p>
        </p:txBody>
      </p:sp>
      <p:sp>
        <p:nvSpPr>
          <p:cNvPr id="207" name="Google Shape;207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Public Health</a:t>
            </a:r>
          </a:p>
          <a:p>
            <a:pPr lvl="1"/>
            <a:r>
              <a:rPr lang="en-US" sz="1400" dirty="0"/>
              <a:t>Understanding and predicting AQI is crucial for protecting public health from the adverse effects of air pollution.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Environmental Impact</a:t>
            </a:r>
          </a:p>
          <a:p>
            <a:pPr lvl="1"/>
            <a:r>
              <a:rPr lang="en-US" sz="1400" dirty="0"/>
              <a:t>Accurate predictions help monitor and control air quality, contributing to environmental conservation efforts.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Policy Formulation</a:t>
            </a:r>
          </a:p>
          <a:p>
            <a:pPr lvl="1"/>
            <a:r>
              <a:rPr lang="en-US" sz="1400" dirty="0"/>
              <a:t>Data-driven insights aid policymakers in creating effective regulations to reduce pollution sources.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Technological Advancement</a:t>
            </a:r>
          </a:p>
          <a:p>
            <a:pPr lvl="1"/>
            <a:r>
              <a:rPr lang="en-US" sz="1400" dirty="0"/>
              <a:t>Applying advanced machine learning techniques to environmental data opens new avenues for innovation in pollution management.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Community Awareness</a:t>
            </a:r>
          </a:p>
          <a:p>
            <a:pPr lvl="1"/>
            <a:r>
              <a:rPr lang="en-US" sz="1400" dirty="0"/>
              <a:t>Increased accuracy in AQI predictions can enhance community awareness and encourage proactive behaviors regarding air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What Are We Trying to Do</a:t>
            </a:r>
            <a:r>
              <a:rPr lang="en-US" sz="1600" dirty="0"/>
              <a:t>?</a:t>
            </a:r>
          </a:p>
          <a:p>
            <a:pPr lvl="1"/>
            <a:r>
              <a:rPr lang="en-US" sz="1600" dirty="0"/>
              <a:t>To analyze environmental data to predict the Air Quality Index (AQI) using regression, Ridge, and Lasso models.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Objectives</a:t>
            </a:r>
          </a:p>
          <a:p>
            <a:pPr lvl="1"/>
            <a:r>
              <a:rPr lang="en-US" sz="1600" dirty="0"/>
              <a:t>Not only forecast AQI levels but also identify the key pollutants and environmental factors influencing air quality.</a:t>
            </a:r>
          </a:p>
          <a:p>
            <a:pPr lvl="1"/>
            <a:r>
              <a:rPr lang="en-US" sz="1600" dirty="0"/>
              <a:t>To build robust predictive models that can effectively handle diverse and complex environmental data.</a:t>
            </a:r>
          </a:p>
          <a:p>
            <a:pPr lvl="1"/>
            <a:r>
              <a:rPr lang="en-US" sz="1600" dirty="0"/>
              <a:t>To understand the influence of meteorological conditions and urban activities on AQI.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Type of Problem. Why</a:t>
            </a:r>
            <a:r>
              <a:rPr lang="en-US" sz="1600" dirty="0"/>
              <a:t>?</a:t>
            </a:r>
          </a:p>
          <a:p>
            <a:pPr lvl="1"/>
            <a:r>
              <a:rPr lang="en-US" sz="1600" dirty="0"/>
              <a:t>This is a regression problem because we aim to predict a continuous outcome—the AQI—based on multiple input features.</a:t>
            </a:r>
          </a:p>
          <a:p>
            <a:pPr lvl="1"/>
            <a:r>
              <a:rPr lang="en-US" sz="1600" dirty="0"/>
              <a:t>To establish the relationship between various factors (like pollutant concentrations, weather conditions) and the overall air quality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b="1" dirty="0"/>
              <a:t>Overview</a:t>
            </a:r>
          </a:p>
          <a:p>
            <a:pPr lvl="1"/>
            <a:r>
              <a:rPr lang="en-US" sz="1600" dirty="0"/>
              <a:t>Daily air quality measurements from multiple cities, capturing trends over time.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Missing Values</a:t>
            </a:r>
          </a:p>
          <a:p>
            <a:pPr lvl="1"/>
            <a:r>
              <a:rPr lang="en-US" sz="1600" dirty="0"/>
              <a:t>Present, notably in key pollutants like PM2.5 and NH3.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Outliers</a:t>
            </a:r>
          </a:p>
          <a:p>
            <a:pPr lvl="1"/>
            <a:r>
              <a:rPr lang="en-US" sz="1600" dirty="0"/>
              <a:t>Retained to reflect natural variability in extreme pollution events.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Size</a:t>
            </a:r>
          </a:p>
          <a:p>
            <a:pPr lvl="1"/>
            <a:r>
              <a:rPr lang="en-US" sz="1600" dirty="0"/>
              <a:t>29,531 rows and 16 variables.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Key Measurements</a:t>
            </a:r>
          </a:p>
          <a:p>
            <a:pPr lvl="1"/>
            <a:r>
              <a:rPr lang="en-US" sz="1600" dirty="0"/>
              <a:t>Includes pollutants such as PM2.5, PM10, NOx, CO, SO2, and O3.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Target Variable</a:t>
            </a:r>
          </a:p>
          <a:p>
            <a:pPr lvl="1"/>
            <a:r>
              <a:rPr lang="en-US" sz="1600" dirty="0"/>
              <a:t>AQI, with values indicating a range of air quality from clean to hazardous.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- Clean Up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b="1" dirty="0"/>
              <a:t>Initial Assessment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Identified missing values and outliers in the dataset.</a:t>
            </a:r>
          </a:p>
          <a:p>
            <a:pPr lvl="1"/>
            <a:r>
              <a:rPr lang="en-US" sz="1400" dirty="0"/>
              <a:t>Reviewed the consistency and accuracy of data entries.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Handling Missing Data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Employed imputation techniques to address missing values, using the median value for numerical columns.</a:t>
            </a:r>
          </a:p>
          <a:p>
            <a:pPr lvl="1"/>
            <a:r>
              <a:rPr lang="en-US" sz="1400" dirty="0"/>
              <a:t>Removed columns with excessive missing data that could not be reliably imputed.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Feature Removal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Dropped non-relevant features such as 'City', 'Date', and 'Xylene' to focus on variables directly impacting AQI.</a:t>
            </a:r>
          </a:p>
          <a:p>
            <a:pPr lvl="1"/>
            <a:r>
              <a:rPr lang="en-US" sz="1400" dirty="0"/>
              <a:t>Removed the '</a:t>
            </a:r>
            <a:r>
              <a:rPr lang="en-US" sz="1400" dirty="0" err="1"/>
              <a:t>AQI_Bucket</a:t>
            </a:r>
            <a:r>
              <a:rPr lang="en-US" sz="1400" dirty="0"/>
              <a:t>' as it was redundant with the continuous AQI value.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Data Transformation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Standardized numerical features to have zero mean and unit variance, ensuring model stability and performance.</a:t>
            </a:r>
          </a:p>
          <a:p>
            <a:pPr lvl="1"/>
            <a:r>
              <a:rPr lang="en-US" sz="1400" dirty="0"/>
              <a:t>Converted date strings to datetime objects to facilitate time-series analysis (if applicable).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9" y="365126"/>
            <a:ext cx="10710619" cy="764428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44769" y="1129555"/>
            <a:ext cx="5181600" cy="504741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dirty="0"/>
              <a:t>Predictors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PM2.5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PM10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NO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NO2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NOx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NH3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CO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SO2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O3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Benzene</a:t>
            </a:r>
          </a:p>
          <a:p>
            <a:pPr lvl="1">
              <a:lnSpc>
                <a:spcPct val="100000"/>
              </a:lnSpc>
            </a:pPr>
            <a:r>
              <a:rPr lang="en-US" sz="1200" dirty="0"/>
              <a:t>Toluene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All predictors are quantitative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Toluene and AQI have the highest VIFs, suggesting they might be key predictors, but multicollinearity is a concern.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None of the variables exceeds the common threshold of 5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It suggests that multicollinearity is not a major concern in this dataset.</a:t>
            </a:r>
          </a:p>
          <a:p>
            <a:pPr>
              <a:lnSpc>
                <a:spcPct val="100000"/>
              </a:lnSpc>
            </a:pPr>
            <a:endParaRPr lang="en-US" sz="1200" dirty="0"/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 descr="A graph of blue bars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88" y="1825625"/>
            <a:ext cx="5580743" cy="3257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Variable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The shape of the histogram suggests that the data may not follow a normal distribution.</a:t>
            </a:r>
          </a:p>
          <a:p>
            <a:r>
              <a:rPr lang="en-US" sz="1400" dirty="0"/>
              <a:t>There is a skew towards the lower end of the standardized AQI scale.</a:t>
            </a:r>
          </a:p>
          <a:p>
            <a:r>
              <a:rPr lang="en-US" sz="1400" dirty="0"/>
              <a:t>The presence of outliers is evident, with some values extending far beyond the typical range.</a:t>
            </a:r>
          </a:p>
          <a:p>
            <a:r>
              <a:rPr lang="en-US" sz="1400" dirty="0"/>
              <a:t>The peak of the histogram indicates a concentration of values around the mean, which is expected after standardization, but the long tail suggests a non-normal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Output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21" y="2325836"/>
            <a:ext cx="5357835" cy="347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37385" y="1345482"/>
          <a:ext cx="10709272" cy="7346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8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86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97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Count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Mean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Standard Deviation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Minimum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25th Percentile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Median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75th Percentile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Maximum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24,850 </a:t>
                      </a:r>
                      <a:r>
                        <a:rPr lang="en-US" sz="1200">
                          <a:effectLst/>
                        </a:rPr>
                        <a:t>(Non-Null</a:t>
                      </a:r>
                      <a:r>
                        <a:rPr lang="en-US" sz="1200" dirty="0">
                          <a:effectLst/>
                        </a:rPr>
                        <a:t>)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166.46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140.70          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13    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81            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118  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208             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2,049  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Boxplots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The box plots reveal a significant presence of outliers across almost all variables, indicating that the data contains extreme values. </a:t>
            </a:r>
          </a:p>
          <a:p>
            <a:r>
              <a:rPr lang="en-US" sz="1600" dirty="0"/>
              <a:t>Many variables have a median near the lower quartile, suggesting a positive skew in these distributions.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 descr="Output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44" y="2023230"/>
            <a:ext cx="7078997" cy="3956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4E6-6069-5BF1-30E9-0C998624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– Lasso Regression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2F1F0E-D014-E13C-33DC-1718F5922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coefficients seem to be penalized the most for  NO and Toluene.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3CC0C2-C098-5A0B-09F5-5773DE289D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MSE (Train): 0.20</a:t>
            </a:r>
          </a:p>
          <a:p>
            <a:r>
              <a:rPr lang="en-US" sz="1400" dirty="0"/>
              <a:t>MSE (Test): 0.23</a:t>
            </a:r>
          </a:p>
          <a:p>
            <a:r>
              <a:rPr lang="en-US" sz="1400" dirty="0"/>
              <a:t>R-Squared (Train): 0.79</a:t>
            </a:r>
          </a:p>
          <a:p>
            <a:r>
              <a:rPr lang="en-US" sz="1400" dirty="0"/>
              <a:t>R-Squared (Test): 0.77</a:t>
            </a:r>
          </a:p>
          <a:p>
            <a:r>
              <a:rPr lang="en-US" sz="1400" dirty="0"/>
              <a:t>Optimum </a:t>
            </a:r>
            <a:r>
              <a:rPr lang="el-GR" sz="1400" dirty="0"/>
              <a:t>λ (</a:t>
            </a:r>
            <a:r>
              <a:rPr lang="en-US" sz="1400" dirty="0"/>
              <a:t>using 5 CV): 0.002</a:t>
            </a:r>
          </a:p>
          <a:p>
            <a:endParaRPr lang="en-US" sz="1400" dirty="0"/>
          </a:p>
          <a:p>
            <a:r>
              <a:rPr lang="en-US" sz="1400" b="1" dirty="0"/>
              <a:t>Training Set</a:t>
            </a:r>
            <a:r>
              <a:rPr lang="en-US" sz="1400" dirty="0"/>
              <a:t>: 80% of the dataset</a:t>
            </a:r>
          </a:p>
          <a:p>
            <a:r>
              <a:rPr lang="en-US" sz="1400" b="1" dirty="0"/>
              <a:t>Testing Set</a:t>
            </a:r>
            <a:r>
              <a:rPr lang="en-US" sz="1400" dirty="0"/>
              <a:t>: Remaining 20% of the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C883A-70A8-D88E-CC1D-BA8C799037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C12B6B-7496-44ED-8069-2B5D2F3A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72198" y="1345481"/>
            <a:ext cx="3633953" cy="47260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6FDBEB-5B0F-9AF9-AF46-9AD6E7E57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246" y="2903015"/>
            <a:ext cx="2865711" cy="10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62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4E6-6069-5BF1-30E9-0C998624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– </a:t>
            </a:r>
            <a:r>
              <a:rPr lang="en-US" dirty="0" err="1"/>
              <a:t>Rigde</a:t>
            </a:r>
            <a:r>
              <a:rPr lang="en-US" dirty="0"/>
              <a:t>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F12AF-A3BA-1547-1F8F-A3DB58F2E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coefficients seem to be penalized the most for NO, NH3, and Benzene.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3CC0C2-C098-5A0B-09F5-5773DE289D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MSE (Train): 0.20</a:t>
            </a:r>
          </a:p>
          <a:p>
            <a:r>
              <a:rPr lang="en-US" sz="1400" dirty="0"/>
              <a:t>MSE (Test): 0.23</a:t>
            </a:r>
          </a:p>
          <a:p>
            <a:r>
              <a:rPr lang="en-US" sz="1400" dirty="0"/>
              <a:t>R-Squared (Train): 0.79</a:t>
            </a:r>
          </a:p>
          <a:p>
            <a:r>
              <a:rPr lang="en-US" sz="1400" dirty="0"/>
              <a:t>R-Squared (Test): 0.77</a:t>
            </a:r>
          </a:p>
          <a:p>
            <a:r>
              <a:rPr lang="en-US" sz="1400" dirty="0"/>
              <a:t>Optimum </a:t>
            </a:r>
            <a:r>
              <a:rPr lang="el-GR" sz="1400" dirty="0"/>
              <a:t>λ (</a:t>
            </a:r>
            <a:r>
              <a:rPr lang="en-US" sz="1400" dirty="0"/>
              <a:t>using 5 CV): 0.05</a:t>
            </a:r>
          </a:p>
          <a:p>
            <a:endParaRPr lang="en-US" sz="1400" dirty="0"/>
          </a:p>
          <a:p>
            <a:r>
              <a:rPr lang="en-US" sz="1400" b="1" dirty="0"/>
              <a:t>Training Set</a:t>
            </a:r>
            <a:r>
              <a:rPr lang="en-US" sz="1400" dirty="0"/>
              <a:t>: 80% of the dataset</a:t>
            </a:r>
          </a:p>
          <a:p>
            <a:r>
              <a:rPr lang="en-US" sz="1400" b="1" dirty="0"/>
              <a:t>Testing Set</a:t>
            </a:r>
            <a:r>
              <a:rPr lang="en-US" sz="1400" dirty="0"/>
              <a:t>: Remaining 20% of the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C883A-70A8-D88E-CC1D-BA8C799037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C12B6B-7496-44ED-8069-2B5D2F3A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72199" y="1346635"/>
            <a:ext cx="3133430" cy="4830331"/>
          </a:xfrm>
          <a:prstGeom prst="rect">
            <a:avLst/>
          </a:prstGeom>
        </p:spPr>
      </p:pic>
      <p:pic>
        <p:nvPicPr>
          <p:cNvPr id="5" name="Picture 4" descr="A number and numbers on a white background&#10;&#10;Description automatically generated">
            <a:extLst>
              <a:ext uri="{FF2B5EF4-FFF2-40B4-BE49-F238E27FC236}">
                <a16:creationId xmlns:a16="http://schemas.microsoft.com/office/drawing/2014/main" id="{FBDD51A0-8904-A768-F80D-F6173D0FE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610" y="3035491"/>
            <a:ext cx="2644665" cy="10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3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D4E6-6069-5BF1-30E9-0C998624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– KNN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F12AF-A3BA-1547-1F8F-A3DB58F2E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coefficients seem to be penalized the most for NO, NH3, and Benzene.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3CC0C2-C098-5A0B-09F5-5773DE289D3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Optimal K (CV = 10): 5</a:t>
            </a:r>
          </a:p>
          <a:p>
            <a:r>
              <a:rPr lang="en-US" sz="1400" dirty="0"/>
              <a:t>RMSE (Train): 20.28</a:t>
            </a:r>
          </a:p>
          <a:p>
            <a:r>
              <a:rPr lang="en-US" sz="1400" dirty="0"/>
              <a:t>RMSE (Test): 26.93</a:t>
            </a:r>
          </a:p>
          <a:p>
            <a:r>
              <a:rPr lang="en-US" sz="1400" dirty="0"/>
              <a:t>R Squared: 0.923</a:t>
            </a:r>
          </a:p>
          <a:p>
            <a:r>
              <a:rPr lang="en-US" sz="1400" dirty="0"/>
              <a:t>Mean Absolute Error: 16.9</a:t>
            </a:r>
          </a:p>
          <a:p>
            <a:endParaRPr lang="en-US" sz="1400" dirty="0"/>
          </a:p>
          <a:p>
            <a:r>
              <a:rPr lang="en-US" sz="1400" b="1" dirty="0"/>
              <a:t>Training Set</a:t>
            </a:r>
            <a:r>
              <a:rPr lang="en-US" sz="1400" dirty="0"/>
              <a:t>: 80% of the dataset</a:t>
            </a:r>
          </a:p>
          <a:p>
            <a:r>
              <a:rPr lang="en-US" sz="1400" b="1" dirty="0"/>
              <a:t>Testing Set</a:t>
            </a:r>
            <a:r>
              <a:rPr lang="en-US" sz="1400" dirty="0"/>
              <a:t>: Remaining 20% of the dataset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C883A-70A8-D88E-CC1D-BA8C799037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C12B6B-7496-44ED-8069-2B5D2F3A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72199" y="1447662"/>
            <a:ext cx="3133430" cy="46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8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Inter" panose="02000503000000020004" pitchFamily="2" charset="0"/>
              </a:rPr>
              <a:t>Evaluation &amp; Results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715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KNN Regression shows the highest R-Squared value (0.923), indicating the strongest fit among the models.</a:t>
            </a:r>
          </a:p>
          <a:p>
            <a:pPr marL="5715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Both Ridge and Lasso Regression have identical R-Squared values for train and test datasets, showing consistency and good generalization but a weaker fit compared to KNN.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200" b="1" dirty="0"/>
              <a:t>Success Metrics</a:t>
            </a:r>
            <a:r>
              <a:rPr lang="en-US" sz="1200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Mean Squared Error (MSE): Utilized to assess regression model performance, with lower values indicating better model accuracy.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R-Squared: Adopted to measure the proportion of variance in the dependent variable that is predictable from the independent variables.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Mean Absolute Error (MAE): Included to provide an additional layer of accuracy assessment, with lower values indicating more precise predictions.</a:t>
            </a:r>
          </a:p>
          <a:p>
            <a:pPr>
              <a:lnSpc>
                <a:spcPct val="110000"/>
              </a:lnSpc>
            </a:pPr>
            <a:r>
              <a:rPr lang="en-US" sz="1200" b="1" dirty="0"/>
              <a:t>Interpreting Results</a:t>
            </a:r>
            <a:r>
              <a:rPr lang="en-US" sz="1200" dirty="0"/>
              <a:t>: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A high R-Squared value indicates a model that effectively fits and predicts the data.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Lasso Regression's ability to produce sparse coefficients helps identify the most influential predictors, enhancing interpretability.</a:t>
            </a:r>
          </a:p>
          <a:p>
            <a:pPr lvl="1">
              <a:lnSpc>
                <a:spcPct val="110000"/>
              </a:lnSpc>
            </a:pPr>
            <a:r>
              <a:rPr lang="en-US" sz="1200" dirty="0"/>
              <a:t>Ridge Regression uses regularization to adjust coefficients, effectively reducing overfitting and maintaining robustness across various datasets.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44525" y="457200"/>
            <a:ext cx="8496300" cy="744855"/>
          </a:xfrm>
        </p:spPr>
        <p:txBody>
          <a:bodyPr/>
          <a:lstStyle/>
          <a:p>
            <a:r>
              <a:rPr lang="en-IN" altLang="en-US"/>
              <a:t>Results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pic>
        <p:nvPicPr>
          <p:cNvPr id="8" name="Picture Placeholder 7" descr="WhatsApp Image 2024-04-22 at 1.30.32 PM"/>
          <p:cNvPicPr>
            <a:picLocks noGrp="1" noChangeAspect="1"/>
          </p:cNvPicPr>
          <p:nvPr>
            <p:ph type="pic" idx="2"/>
          </p:nvPr>
        </p:nvPicPr>
        <p:blipFill>
          <a:blip r:embed="rId2"/>
          <a:stretch>
            <a:fillRect/>
          </a:stretch>
        </p:blipFill>
        <p:spPr>
          <a:xfrm>
            <a:off x="5796915" y="1364615"/>
            <a:ext cx="4561205" cy="4496435"/>
          </a:xfrm>
          <a:prstGeom prst="rect">
            <a:avLst/>
          </a:prstGeom>
        </p:spPr>
      </p:pic>
      <p:pic>
        <p:nvPicPr>
          <p:cNvPr id="11" name="Picture 10" descr="WhatsApp Image 2024-04-22 at 1.36.14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" y="1355090"/>
            <a:ext cx="4725035" cy="476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Future Work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Conclusions</a:t>
            </a:r>
            <a:endParaRPr lang="en-US" sz="1600" dirty="0"/>
          </a:p>
          <a:p>
            <a:pPr lvl="1"/>
            <a:r>
              <a:rPr lang="en-US" sz="1600" dirty="0"/>
              <a:t>KNN Regression: Achieved high predictive accuracy with an R-Squared of 0.923, indicating a strong fit to the data.</a:t>
            </a:r>
          </a:p>
          <a:p>
            <a:pPr lvl="1"/>
            <a:r>
              <a:rPr lang="en-US" sz="1600" dirty="0"/>
              <a:t>Ridge Regression: Showed consistent performance with a slightly </a:t>
            </a:r>
            <a:r>
              <a:rPr lang="en-IN" altLang="en-US" sz="1600" dirty="0"/>
              <a:t>higher</a:t>
            </a:r>
            <a:r>
              <a:rPr lang="en-US" sz="1600" dirty="0"/>
              <a:t> test MSE (0.231) compared to the train MSE (0.203), suggesting good generalization.</a:t>
            </a:r>
          </a:p>
          <a:p>
            <a:pPr lvl="1"/>
            <a:r>
              <a:rPr lang="en-US" sz="1600" dirty="0"/>
              <a:t>Lasso Regression: Yielded a comparable test MSE (0.232) to Ridge, with the potential benefit of feature selection, as reflected in the sparse coefficient matrix.</a:t>
            </a:r>
          </a:p>
          <a:p>
            <a:r>
              <a:rPr lang="en-US" sz="1600" b="1" dirty="0"/>
              <a:t>Justification</a:t>
            </a:r>
            <a:endParaRPr lang="en-US" sz="1600" dirty="0"/>
          </a:p>
          <a:p>
            <a:pPr lvl="1"/>
            <a:r>
              <a:rPr lang="en-US" sz="1600" dirty="0"/>
              <a:t>The choice of Lasso over Ridge was informed by empirical test outcomes,</a:t>
            </a:r>
            <a:r>
              <a:rPr lang="en-IN" altLang="en-US" sz="1600" dirty="0"/>
              <a:t> sparse coefficients in lasso,</a:t>
            </a:r>
            <a:r>
              <a:rPr lang="en-US" sz="1600" dirty="0"/>
              <a:t> emphasizing a harmonious trade-off among model simplicity, understandability, and forecast precision.</a:t>
            </a:r>
          </a:p>
          <a:p>
            <a:pPr marL="571500" lvl="1" indent="0">
              <a:buNone/>
            </a:pPr>
            <a:endParaRPr lang="en-US" sz="1600" dirty="0"/>
          </a:p>
          <a:p>
            <a:r>
              <a:rPr lang="en-US" sz="1600" b="1" dirty="0"/>
              <a:t>Future Directions</a:t>
            </a:r>
            <a:endParaRPr lang="en-US" sz="1600" dirty="0"/>
          </a:p>
          <a:p>
            <a:pPr lvl="1"/>
            <a:r>
              <a:rPr lang="en-US" sz="1600" dirty="0"/>
              <a:t>Investigate the impact of additional data or alternative regularization techniques on model performance.</a:t>
            </a:r>
          </a:p>
          <a:p>
            <a:pPr lvl="1"/>
            <a:r>
              <a:rPr lang="en-US" sz="1600" dirty="0"/>
              <a:t>Explore model </a:t>
            </a:r>
            <a:r>
              <a:rPr lang="en-US" sz="1600" dirty="0" err="1"/>
              <a:t>explainability</a:t>
            </a:r>
            <a:r>
              <a:rPr lang="en-US" sz="1600" dirty="0"/>
              <a:t> tools to provide deeper insights into feature influence and student success predictors.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– Exploratory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 descr="A diagram of a heat map&#10;&#10;Description automatically generated with medium confid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77" y="1283516"/>
            <a:ext cx="8229446" cy="50686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8" y="408861"/>
            <a:ext cx="10710619" cy="817723"/>
          </a:xfrm>
        </p:spPr>
        <p:txBody>
          <a:bodyPr/>
          <a:lstStyle/>
          <a:p>
            <a:r>
              <a:rPr lang="en-US" dirty="0"/>
              <a:t>Dataset – Exploratory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 descr="A table with numbers and a number of numbers&#10;&#10;Description automatically generated with medium confid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990" y="1226584"/>
            <a:ext cx="7318575" cy="48996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8" y="408861"/>
            <a:ext cx="10710619" cy="817723"/>
          </a:xfrm>
        </p:spPr>
        <p:txBody>
          <a:bodyPr/>
          <a:lstStyle/>
          <a:p>
            <a:r>
              <a:rPr lang="en-US" dirty="0"/>
              <a:t>Dataset – Exploratory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76" b="2025"/>
          <a:stretch>
            <a:fillRect/>
          </a:stretch>
        </p:blipFill>
        <p:spPr>
          <a:xfrm>
            <a:off x="2238703" y="1417583"/>
            <a:ext cx="7239862" cy="44261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8" y="408861"/>
            <a:ext cx="10710619" cy="817723"/>
          </a:xfrm>
        </p:spPr>
        <p:txBody>
          <a:bodyPr/>
          <a:lstStyle/>
          <a:p>
            <a:r>
              <a:rPr lang="en-US" dirty="0"/>
              <a:t>Dataset – Exploratory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00078" y="1308683"/>
            <a:ext cx="4901792" cy="5068628"/>
          </a:xfrm>
          <a:prstGeom prst="rect">
            <a:avLst/>
          </a:prstGeom>
        </p:spPr>
      </p:pic>
      <p:pic>
        <p:nvPicPr>
          <p:cNvPr id="4098" name="Picture 2" descr="Output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68" y="1386910"/>
            <a:ext cx="4948286" cy="4084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8" y="408861"/>
            <a:ext cx="10710619" cy="817723"/>
          </a:xfrm>
        </p:spPr>
        <p:txBody>
          <a:bodyPr/>
          <a:lstStyle/>
          <a:p>
            <a:r>
              <a:rPr lang="en-US" dirty="0"/>
              <a:t>Dataset – Exploratory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905" y="1500738"/>
            <a:ext cx="9598190" cy="450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rohanrao</a:t>
            </a:r>
            <a:r>
              <a:rPr lang="en-US" dirty="0"/>
              <a:t>/air-quality-data-in-</a:t>
            </a:r>
            <a:r>
              <a:rPr lang="en-US" dirty="0" err="1"/>
              <a:t>india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evens">
      <a:dk1>
        <a:srgbClr val="363D45"/>
      </a:dk1>
      <a:lt1>
        <a:srgbClr val="FFFFFF"/>
      </a:lt1>
      <a:dk2>
        <a:srgbClr val="00427F"/>
      </a:dk2>
      <a:lt2>
        <a:srgbClr val="E3E5E6"/>
      </a:lt2>
      <a:accent1>
        <a:srgbClr val="A32537"/>
      </a:accent1>
      <a:accent2>
        <a:srgbClr val="4895CF"/>
      </a:accent2>
      <a:accent3>
        <a:srgbClr val="EBC73A"/>
      </a:accent3>
      <a:accent4>
        <a:srgbClr val="E6832E"/>
      </a:accent4>
      <a:accent5>
        <a:srgbClr val="E7F2FB"/>
      </a:accent5>
      <a:accent6>
        <a:srgbClr val="FFF2E8"/>
      </a:accent6>
      <a:hlink>
        <a:srgbClr val="0000FF"/>
      </a:hlink>
      <a:folHlink>
        <a:srgbClr val="800080"/>
      </a:folHlink>
    </a:clrScheme>
    <a:fontScheme name="Candara">
      <a:maj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1310</Words>
  <Application>Microsoft Macintosh PowerPoint</Application>
  <PresentationFormat>Widescreen</PresentationFormat>
  <Paragraphs>180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 SemiBold</vt:lpstr>
      <vt:lpstr>IBM Plex Sans</vt:lpstr>
      <vt:lpstr>NTR</vt:lpstr>
      <vt:lpstr>Inter</vt:lpstr>
      <vt:lpstr>Noto Sans Symbols</vt:lpstr>
      <vt:lpstr>Saira Condensed SemiBold</vt:lpstr>
      <vt:lpstr>Saira Condensed Light</vt:lpstr>
      <vt:lpstr>Calibri</vt:lpstr>
      <vt:lpstr>IBM Plex Sans Light</vt:lpstr>
      <vt:lpstr>Arial</vt:lpstr>
      <vt:lpstr>Office Theme</vt:lpstr>
      <vt:lpstr>Predicting Air Quality Index</vt:lpstr>
      <vt:lpstr>Introduction</vt:lpstr>
      <vt:lpstr>Motivation</vt:lpstr>
      <vt:lpstr>Problem Description</vt:lpstr>
      <vt:lpstr>Dataset</vt:lpstr>
      <vt:lpstr>Dataset - Clean Up</vt:lpstr>
      <vt:lpstr>Variables</vt:lpstr>
      <vt:lpstr>Target Variable</vt:lpstr>
      <vt:lpstr>Diagnosis Boxplots</vt:lpstr>
      <vt:lpstr>Model – Lasso Regression</vt:lpstr>
      <vt:lpstr>Model – Rigde Regression</vt:lpstr>
      <vt:lpstr>Model – KNN Regression</vt:lpstr>
      <vt:lpstr>Evaluation &amp; Results</vt:lpstr>
      <vt:lpstr>Results</vt:lpstr>
      <vt:lpstr>Discussion and Future Work</vt:lpstr>
      <vt:lpstr>Dataset – Exploratory Analysis</vt:lpstr>
      <vt:lpstr>Dataset – Exploratory Analysis</vt:lpstr>
      <vt:lpstr>Dataset – Exploratory Analysis</vt:lpstr>
      <vt:lpstr>Dataset – Exploratory Analysis</vt:lpstr>
      <vt:lpstr>Dataset – Exploratory Analysis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Quality Index</dc:title>
  <dc:creator/>
  <cp:lastModifiedBy>LNU Kunwar Gautam</cp:lastModifiedBy>
  <cp:revision>21</cp:revision>
  <dcterms:created xsi:type="dcterms:W3CDTF">2024-04-22T18:42:37Z</dcterms:created>
  <dcterms:modified xsi:type="dcterms:W3CDTF">2024-04-22T19:34:40Z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9631577A93CA4D5396D885E10807ECB1_13</vt:lpwstr>
  </property>
  <property fmtid="{D5CDD505-2E9C-101B-9397-08002B2CF9AE}" pid="3" name="KSOProductBuildVer">
    <vt:lpwstr>1033-12.2.0.13489</vt:lpwstr>
  </property>
</Properties>
</file>